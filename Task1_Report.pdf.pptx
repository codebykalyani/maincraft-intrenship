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-914400"/>
            <a:ext cx="5029200" cy="5029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3200400" cy="3200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3200400"/>
            <a:ext cx="2286000" cy="2286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22960"/>
            <a:ext cx="64008" cy="3200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777240"/>
            <a:ext cx="2286000" cy="4114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58368" y="822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 ·  TASK 1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658368" y="12344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</a:t>
            </a:r>
            <a:endParaRPr lang="en-US" sz="5200" dirty="0"/>
          </a:p>
        </p:txBody>
      </p:sp>
      <p:sp>
        <p:nvSpPr>
          <p:cNvPr id="9" name="Text 2"/>
          <p:cNvSpPr/>
          <p:nvPr/>
        </p:nvSpPr>
        <p:spPr>
          <a:xfrm>
            <a:off x="658368" y="19933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Price</a:t>
            </a:r>
            <a:endParaRPr lang="en-US" sz="5200" dirty="0"/>
          </a:p>
        </p:txBody>
      </p:sp>
      <p:sp>
        <p:nvSpPr>
          <p:cNvPr id="10" name="Text 3"/>
          <p:cNvSpPr/>
          <p:nvPr/>
        </p:nvSpPr>
        <p:spPr>
          <a:xfrm>
            <a:off x="658368" y="275234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</a:t>
            </a:r>
            <a:endParaRPr lang="en-US" sz="5200" dirty="0"/>
          </a:p>
        </p:txBody>
      </p:sp>
      <p:sp>
        <p:nvSpPr>
          <p:cNvPr id="11" name="Text 4"/>
          <p:cNvSpPr/>
          <p:nvPr/>
        </p:nvSpPr>
        <p:spPr>
          <a:xfrm>
            <a:off x="658368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&amp; Evaluating a Linear Regression Model</a:t>
            </a:r>
            <a:endParaRPr lang="en-US" sz="1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06240"/>
            <a:ext cx="2560320" cy="685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537960" y="4270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4" name="Text 6"/>
          <p:cNvSpPr/>
          <p:nvPr/>
        </p:nvSpPr>
        <p:spPr>
          <a:xfrm>
            <a:off x="653796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Kalyani Borkar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6537960" y="4727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ML Intern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160520"/>
            <a:ext cx="1280160" cy="6583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49808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20,640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749808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Points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5688" y="4160520"/>
            <a:ext cx="1280160" cy="65836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167128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21" name="Text 11"/>
          <p:cNvSpPr/>
          <p:nvPr/>
        </p:nvSpPr>
        <p:spPr>
          <a:xfrm>
            <a:off x="2167128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9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4160520"/>
            <a:ext cx="1280160" cy="6583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84448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1800" dirty="0"/>
          </a:p>
        </p:txBody>
      </p:sp>
      <p:sp>
        <p:nvSpPr>
          <p:cNvPr id="24" name="Text 13"/>
          <p:cNvSpPr/>
          <p:nvPr/>
        </p:nvSpPr>
        <p:spPr>
          <a:xfrm>
            <a:off x="3584448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 Split</a:t>
            </a:r>
            <a:endParaRPr lang="en-US" sz="9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4160520"/>
            <a:ext cx="1280160" cy="6583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001768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</a:t>
            </a:r>
            <a:endParaRPr lang="en-US" sz="1800" dirty="0"/>
          </a:p>
        </p:txBody>
      </p:sp>
      <p:sp>
        <p:nvSpPr>
          <p:cNvPr id="27" name="Text 15"/>
          <p:cNvSpPr/>
          <p:nvPr/>
        </p:nvSpPr>
        <p:spPr>
          <a:xfrm>
            <a:off x="5001768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/  EXPLORATORY DATA ANALYSIS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65760" y="4023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Insights &amp; Feature Correlations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3703320" cy="39319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3703320" cy="5486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OUTPUT</a:t>
            </a:r>
            <a:endParaRPr lang="en-US" sz="800" dirty="0"/>
          </a:p>
        </p:txBody>
      </p:sp>
      <p:pic>
        <p:nvPicPr>
          <p:cNvPr id="8" name="Image 3" descr="/mnt/user-data/uploads/1780294589747_imag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7472" y="1371600"/>
            <a:ext cx="3547872" cy="1600200"/>
          </a:xfrm>
          <a:prstGeom prst="rect">
            <a:avLst/>
          </a:prstGeom>
        </p:spPr>
      </p:pic>
      <p:pic>
        <p:nvPicPr>
          <p:cNvPr id="9" name="Image 4" descr="/mnt/user-data/uploads/1780294611831_imag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7472" y="2999232"/>
            <a:ext cx="3547872" cy="178308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005840"/>
            <a:ext cx="4663440" cy="393192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1005840"/>
            <a:ext cx="4663440" cy="548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389120" y="10972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MATRIX</a:t>
            </a:r>
            <a:endParaRPr lang="en-US" sz="800" dirty="0"/>
          </a:p>
        </p:txBody>
      </p:sp>
      <p:pic>
        <p:nvPicPr>
          <p:cNvPr id="13" name="Image 7" descr="/home/claude/heatmap_full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251960" y="1371600"/>
            <a:ext cx="4572000" cy="3383280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828032"/>
            <a:ext cx="8595360" cy="23774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4572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KEY INSIGHT:</a:t>
            </a:r>
            <a:endParaRPr lang="en-US" sz="900" dirty="0"/>
          </a:p>
        </p:txBody>
      </p:sp>
      <p:sp>
        <p:nvSpPr>
          <p:cNvPr id="16" name="Text 5"/>
          <p:cNvSpPr/>
          <p:nvPr/>
        </p:nvSpPr>
        <p:spPr>
          <a:xfrm>
            <a:off x="1645920" y="484632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MedInc (r = 0.69) is the strongest predictor of house value  ·  Zero missing values across all 20,640 records  ·  All features float64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B7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/  MODEL PERFORMANCE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65760" y="4023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&amp; Predictions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3063240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1033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SPLIT:  80% Train  ·  20% Test  ·  random_state = 42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1115568" cy="347472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17320"/>
            <a:ext cx="1115568" cy="914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9184" y="1554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0.533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329184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457200" y="2532888"/>
            <a:ext cx="749808" cy="18288"/>
          </a:xfrm>
          <a:prstGeom prst="rect">
            <a:avLst/>
          </a:prstGeom>
          <a:solidFill>
            <a:srgbClr val="00D4B4">
              <a:alpha val="40000"/>
            </a:srgbClr>
          </a:solidFill>
          <a:ln w="12700">
            <a:solidFill>
              <a:srgbClr val="00D4B4">
                <a:alpha val="40000"/>
              </a:srgbClr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329184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Absolute Error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329184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~$53,300 avg. deviation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1417320"/>
            <a:ext cx="1115568" cy="347472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768" y="1417320"/>
            <a:ext cx="1115568" cy="914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627632" y="1554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0.746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627632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1755648" y="2532888"/>
            <a:ext cx="749808" cy="18288"/>
          </a:xfrm>
          <a:prstGeom prst="rect">
            <a:avLst/>
          </a:prstGeom>
          <a:solidFill>
            <a:srgbClr val="FFB830">
              <a:alpha val="40000"/>
            </a:srgbClr>
          </a:solidFill>
          <a:ln w="12700">
            <a:solidFill>
              <a:srgbClr val="FFB830">
                <a:alpha val="40000"/>
              </a:srgbClr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627632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Mean Sq. Error</a:t>
            </a:r>
            <a:endParaRPr lang="en-US" sz="850" dirty="0"/>
          </a:p>
        </p:txBody>
      </p:sp>
      <p:sp>
        <p:nvSpPr>
          <p:cNvPr id="20" name="Text 12"/>
          <p:cNvSpPr/>
          <p:nvPr/>
        </p:nvSpPr>
        <p:spPr>
          <a:xfrm>
            <a:off x="1627632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Penalises large outlier gaps</a:t>
            </a:r>
            <a:endParaRPr lang="en-US" sz="8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216" y="1417320"/>
            <a:ext cx="1115568" cy="347472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1216" y="1417320"/>
            <a:ext cx="1115568" cy="914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926080" y="15544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57.6%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2926080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3054096" y="2532888"/>
            <a:ext cx="749808" cy="18288"/>
          </a:xfrm>
          <a:prstGeom prst="rect">
            <a:avLst/>
          </a:prstGeom>
          <a:solidFill>
            <a:srgbClr val="9B72FF">
              <a:alpha val="40000"/>
            </a:srgbClr>
          </a:solidFill>
          <a:ln w="12700">
            <a:solidFill>
              <a:srgbClr val="9B72FF">
                <a:alpha val="40000"/>
              </a:srgbClr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2926080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Coeff. of Determination</a:t>
            </a:r>
            <a:endParaRPr lang="en-US" sz="850" dirty="0"/>
          </a:p>
        </p:txBody>
      </p:sp>
      <p:sp>
        <p:nvSpPr>
          <p:cNvPr id="27" name="Text 17"/>
          <p:cNvSpPr/>
          <p:nvPr/>
        </p:nvSpPr>
        <p:spPr>
          <a:xfrm>
            <a:off x="2926080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Variance explained by model</a:t>
            </a:r>
            <a:endParaRPr lang="en-US" sz="8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987552"/>
            <a:ext cx="4663440" cy="393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987552"/>
            <a:ext cx="4663440" cy="5486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480560" y="10789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B7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 PREDICTED</a:t>
            </a:r>
            <a:endParaRPr lang="en-US" sz="800" dirty="0"/>
          </a:p>
        </p:txBody>
      </p:sp>
      <p:pic>
        <p:nvPicPr>
          <p:cNvPr id="31" name="Image 10" descr="/mnt/user-data/uploads/1780294699356_image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343400" y="1335024"/>
            <a:ext cx="4480560" cy="342900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4828032"/>
            <a:ext cx="3657600" cy="24688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41148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shows strong linear fit — income is key driver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B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/  CONCLUSIONS &amp; NEXT STEPS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365760" y="4023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Roadmap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87552"/>
            <a:ext cx="8595360" cy="8229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73152" cy="82296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24712"/>
            <a:ext cx="384048" cy="38404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6012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960120" y="124358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establishes a strong, interpretable baseline — MedInc alone drives most predictions. The 57.6% R² proves economic factors dominate California housing prices.</a:t>
            </a:r>
            <a:endParaRPr lang="en-US" sz="11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920240"/>
            <a:ext cx="2715768" cy="271576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920240"/>
            <a:ext cx="2715768" cy="7315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38912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2029968"/>
            <a:ext cx="384048" cy="384048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438912" y="2578608"/>
            <a:ext cx="2377440" cy="18288"/>
          </a:xfrm>
          <a:prstGeom prst="rect">
            <a:avLst/>
          </a:prstGeom>
          <a:solidFill>
            <a:srgbClr val="00D4B4">
              <a:alpha val="45000"/>
            </a:srgbClr>
          </a:solidFill>
          <a:ln w="12700">
            <a:solidFill>
              <a:srgbClr val="00D4B4">
                <a:alpha val="45000"/>
              </a:srgbClr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438912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Scaling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438912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StandardScaler — normalize all features so optimization converges faster and coefficients become truly comparable.</a:t>
            </a:r>
            <a:endParaRPr lang="en-US" sz="10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2968" y="1920240"/>
            <a:ext cx="2715768" cy="2715768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2968" y="1920240"/>
            <a:ext cx="2715768" cy="7315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337560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7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7528" y="2029968"/>
            <a:ext cx="384048" cy="384048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3337560" y="2578608"/>
            <a:ext cx="2377440" cy="18288"/>
          </a:xfrm>
          <a:prstGeom prst="rect">
            <a:avLst/>
          </a:prstGeom>
          <a:solidFill>
            <a:srgbClr val="9B72FF">
              <a:alpha val="45000"/>
            </a:srgbClr>
          </a:solidFill>
          <a:ln w="12700">
            <a:solidFill>
              <a:srgbClr val="9B72FF">
                <a:alpha val="45000"/>
              </a:srgbClr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3337560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Models</a:t>
            </a:r>
            <a:endParaRPr lang="en-US" sz="1400" dirty="0"/>
          </a:p>
        </p:txBody>
      </p:sp>
      <p:sp>
        <p:nvSpPr>
          <p:cNvPr id="23" name="Text 11"/>
          <p:cNvSpPr/>
          <p:nvPr/>
        </p:nvSpPr>
        <p:spPr>
          <a:xfrm>
            <a:off x="333756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 to Random Forest or XGBoost to capture non-linear interactions Linear Regression fundamentally cannot model.</a:t>
            </a:r>
            <a:endParaRPr lang="en-US" sz="105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1616" y="1920240"/>
            <a:ext cx="2715768" cy="2715768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1616" y="1920240"/>
            <a:ext cx="2715768" cy="7315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6236208" y="19933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6176" y="2029968"/>
            <a:ext cx="384048" cy="384048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6236208" y="2578608"/>
            <a:ext cx="2377440" cy="18288"/>
          </a:xfrm>
          <a:prstGeom prst="rect">
            <a:avLst/>
          </a:prstGeom>
          <a:solidFill>
            <a:srgbClr val="FFB830">
              <a:alpha val="45000"/>
            </a:srgbClr>
          </a:solidFill>
          <a:ln w="12700">
            <a:solidFill>
              <a:srgbClr val="FFB830">
                <a:alpha val="45000"/>
              </a:srgbClr>
            </a:solidFill>
            <a:prstDash val="solid"/>
          </a:ln>
        </p:spPr>
      </p:sp>
      <p:sp>
        <p:nvSpPr>
          <p:cNvPr id="29" name="Text 14"/>
          <p:cNvSpPr/>
          <p:nvPr/>
        </p:nvSpPr>
        <p:spPr>
          <a:xfrm>
            <a:off x="6236208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Feature Engineering</a:t>
            </a:r>
            <a:endParaRPr lang="en-US" sz="1400" dirty="0"/>
          </a:p>
        </p:txBody>
      </p:sp>
      <p:sp>
        <p:nvSpPr>
          <p:cNvPr id="30" name="Text 15"/>
          <p:cNvSpPr/>
          <p:nvPr/>
        </p:nvSpPr>
        <p:spPr>
          <a:xfrm>
            <a:off x="6236208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Lat/Lon into distance from SF &amp; LA economic hubs — far more signal than raw coordinates.</a:t>
            </a:r>
            <a:endParaRPr lang="en-US" sz="105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4773168"/>
            <a:ext cx="9144000" cy="38404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0" y="482803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A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California House Price Predictor  ·  Task 1  ·  Kalyani Borkar  ·  AI &amp; ML Intern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House Price Predictor</dc:title>
  <dc:subject>PptxGenJS Presentation</dc:subject>
  <dc:creator>PptxGenJS</dc:creator>
  <cp:lastModifiedBy>PptxGenJS</cp:lastModifiedBy>
  <cp:revision>1</cp:revision>
  <dcterms:created xsi:type="dcterms:W3CDTF">2026-06-01T06:24:49Z</dcterms:created>
  <dcterms:modified xsi:type="dcterms:W3CDTF">2026-06-01T06:24:49Z</dcterms:modified>
</cp:coreProperties>
</file>